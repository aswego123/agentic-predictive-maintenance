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4" r:id="rId6"/>
    <p:sldId id="263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E2A3CEE-DA4A-4774-B002-906211DA4D92}">
          <p14:sldIdLst>
            <p14:sldId id="256"/>
            <p14:sldId id="257"/>
            <p14:sldId id="259"/>
            <p14:sldId id="258"/>
            <p14:sldId id="264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531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45720" cy="45720"/>
          </a:xfrm>
          <a:prstGeom prst="ellipse">
            <a:avLst/>
          </a:prstGeom>
          <a:solidFill>
            <a:srgbClr val="35D6D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548640"/>
            <a:ext cx="45720" cy="45720"/>
          </a:xfrm>
          <a:prstGeom prst="ellipse">
            <a:avLst/>
          </a:prstGeom>
          <a:solidFill>
            <a:srgbClr val="35D6D6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548640"/>
            <a:ext cx="45720" cy="45720"/>
          </a:xfrm>
          <a:prstGeom prst="ellipse">
            <a:avLst/>
          </a:prstGeom>
          <a:solidFill>
            <a:srgbClr val="35D6D6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548640"/>
            <a:ext cx="45720" cy="45720"/>
          </a:xfrm>
          <a:prstGeom prst="ellipse">
            <a:avLst/>
          </a:prstGeom>
          <a:solidFill>
            <a:srgbClr val="35D6D6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371600"/>
            <a:ext cx="45720" cy="45720"/>
          </a:xfrm>
          <a:prstGeom prst="ellipse">
            <a:avLst/>
          </a:prstGeom>
          <a:solidFill>
            <a:srgbClr val="35D6D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1371600"/>
            <a:ext cx="45720" cy="45720"/>
          </a:xfrm>
          <a:prstGeom prst="ellipse">
            <a:avLst/>
          </a:prstGeom>
          <a:solidFill>
            <a:srgbClr val="35D6D6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371600"/>
            <a:ext cx="45720" cy="45720"/>
          </a:xfrm>
          <a:prstGeom prst="ellipse">
            <a:avLst/>
          </a:prstGeom>
          <a:solidFill>
            <a:srgbClr val="35D6D6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MAINTENANCE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&amp; Fatigue Intelligence</a:t>
            </a:r>
            <a:r>
              <a:rPr lang="en-US" sz="4600" dirty="0"/>
              <a:t> 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Aerospace </a:t>
            </a:r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Rail Assets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multi-agent digital twin where physics and ML negotiate,</a:t>
            </a:r>
          </a:p>
          <a:p>
            <a:pPr marL="14604">
              <a:lnSpc>
                <a:spcPct val="100000"/>
              </a:lnSpc>
              <a:spcBef>
                <a:spcPts val="45"/>
              </a:spcBef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Gemini Judge investigate with multiple tools, and every decision leaves an audit trail.</a:t>
            </a:r>
          </a:p>
        </p:txBody>
      </p:sp>
      <p:pic>
        <p:nvPicPr>
          <p:cNvPr id="18" name="Image 0" descr="icons/plane_cyan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0378440" y="5212080"/>
            <a:ext cx="822960" cy="822960"/>
          </a:xfrm>
          <a:prstGeom prst="rect">
            <a:avLst/>
          </a:prstGeom>
        </p:spPr>
      </p:pic>
      <p:pic>
        <p:nvPicPr>
          <p:cNvPr id="19" name="Image 1" descr="icons/train_cyan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0378440" y="4160520"/>
            <a:ext cx="822960" cy="8229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 ·  AI ANOMALY DETECTION SYSTEM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B8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0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failures are</a:t>
            </a:r>
            <a:endParaRPr lang="en-US" sz="32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0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expensive and mostly unavoidable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and rail operators still rely on fixed inspection intervals and manual thresholds. By the time a gauge trips, damage has often already accumulated - turning a routine swap into an unscheduled grounding.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/>
        </p:spPr>
      </p:sp>
      <p:pic>
        <p:nvPicPr>
          <p:cNvPr id="6" name="Image 0" descr="icons/aler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5295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40156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predictive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36850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alarms fire only after a fault is already underway.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/>
        </p:spPr>
      </p:sp>
      <p:pic>
        <p:nvPicPr>
          <p:cNvPr id="10" name="Image 1" descr="icons/clo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3982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27024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45537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repairs cost 3-5x more than scheduled maintenance.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166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/>
        </p:spPr>
      </p:sp>
      <p:pic>
        <p:nvPicPr>
          <p:cNvPr id="14" name="Image 2" descr="icons/layers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526694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513892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5422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CSVs, material specs, and fatigue models live in silos.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452360" y="777240"/>
            <a:ext cx="4206240" cy="5394960"/>
          </a:xfrm>
          <a:prstGeom prst="roundRect">
            <a:avLst>
              <a:gd name="adj" fmla="val 2609"/>
            </a:avLst>
          </a:prstGeom>
          <a:solidFill>
            <a:srgbClr val="0B0F17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81812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818120" y="14173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maintenance costs the aerospace industry billions annually - and a single grounded aircraft can idle a fleet's economics for days.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772400" y="3502152"/>
            <a:ext cx="3474720" cy="0"/>
          </a:xfrm>
          <a:prstGeom prst="line">
            <a:avLst/>
          </a:prstGeom>
          <a:noFill/>
          <a:ln w="12700">
            <a:solidFill>
              <a:srgbClr val="2A364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81812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3–5x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7818120" y="31821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reactive vs. planned repair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818120" y="4412070"/>
            <a:ext cx="3474720" cy="0"/>
          </a:xfrm>
          <a:prstGeom prst="line">
            <a:avLst/>
          </a:prstGeom>
          <a:noFill/>
          <a:ln w="12700">
            <a:solidFill>
              <a:srgbClr val="2A364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818120" y="3703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6–9 mo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7818120" y="41422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AI-maintenance rollout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818120" y="5437094"/>
            <a:ext cx="3474720" cy="0"/>
          </a:xfrm>
          <a:prstGeom prst="line">
            <a:avLst/>
          </a:prstGeom>
          <a:noFill/>
          <a:ln w="12700">
            <a:solidFill>
              <a:srgbClr val="2A364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818120" y="4663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3–5x</a:t>
            </a:r>
            <a:endParaRPr lang="en-US" sz="2600" dirty="0"/>
          </a:p>
        </p:txBody>
      </p:sp>
      <p:sp>
        <p:nvSpPr>
          <p:cNvPr id="28" name="Text 23"/>
          <p:cNvSpPr/>
          <p:nvPr/>
        </p:nvSpPr>
        <p:spPr>
          <a:xfrm>
            <a:off x="7818120" y="51023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first-year ROI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9B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 ·  AI ANOMALY DETECTION SYSTEM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B8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components, purpose-built sensor profiles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profile defines normal / warning / critical bands per sensor, tuned separately for aircraft and rail duty cycles.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BAAC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75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B0F17"/>
          </a:solidFill>
          <a:ln/>
        </p:spPr>
      </p:sp>
      <p:pic>
        <p:nvPicPr>
          <p:cNvPr id="7" name="Image 0" descr="icons/gear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6712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8775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290779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· Temp · Oil Pressure · Oil Temp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749808" y="3493008"/>
            <a:ext cx="2203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INCONEL718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19272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BAAC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2075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B0F17"/>
          </a:solidFill>
          <a:ln/>
        </p:spPr>
      </p:sp>
      <p:pic>
        <p:nvPicPr>
          <p:cNvPr id="13" name="Image 1" descr="icons/layer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16712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58775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20440" y="290779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· Load Factor · Temperature</a:t>
            </a:r>
            <a:endParaRPr lang="en-US" sz="980" dirty="0"/>
          </a:p>
        </p:txBody>
      </p:sp>
      <p:sp>
        <p:nvSpPr>
          <p:cNvPr id="16" name="Text 12"/>
          <p:cNvSpPr/>
          <p:nvPr/>
        </p:nvSpPr>
        <p:spPr>
          <a:xfrm>
            <a:off x="3520440" y="3493008"/>
            <a:ext cx="2203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AL7075-T6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089904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BAA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91072" y="2075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B0F17"/>
          </a:solidFill>
          <a:ln/>
        </p:spPr>
      </p:sp>
      <p:pic>
        <p:nvPicPr>
          <p:cNvPr id="19" name="Image 2" descr="icons/shield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167128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91072" y="258775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Fuselage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291072" y="290779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· Temperature · Load Factor</a:t>
            </a:r>
            <a:endParaRPr lang="en-US" sz="980" dirty="0"/>
          </a:p>
        </p:txBody>
      </p:sp>
      <p:sp>
        <p:nvSpPr>
          <p:cNvPr id="22" name="Text 17"/>
          <p:cNvSpPr/>
          <p:nvPr/>
        </p:nvSpPr>
        <p:spPr>
          <a:xfrm>
            <a:off x="6291072" y="3493008"/>
            <a:ext cx="2203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AL7075-T6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8860536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BAAC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061704" y="2075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B0F17"/>
          </a:solidFill>
          <a:ln/>
        </p:spPr>
      </p:sp>
      <p:pic>
        <p:nvPicPr>
          <p:cNvPr id="25" name="Image 3" descr="icons/settings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144" y="2167128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61704" y="258775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Gear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061704" y="290779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· Load Factor · Pressure</a:t>
            </a:r>
            <a:endParaRPr lang="en-US" sz="980" dirty="0"/>
          </a:p>
        </p:txBody>
      </p:sp>
      <p:sp>
        <p:nvSpPr>
          <p:cNvPr id="28" name="Text 22"/>
          <p:cNvSpPr/>
          <p:nvPr/>
        </p:nvSpPr>
        <p:spPr>
          <a:xfrm>
            <a:off x="9061704" y="3493008"/>
            <a:ext cx="2203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STEEL4340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548640" y="400507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BAAC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49808" y="420624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B0F17"/>
          </a:solidFill>
          <a:ln/>
        </p:spPr>
      </p:sp>
      <p:pic>
        <p:nvPicPr>
          <p:cNvPr id="31" name="Image 4" descr="icons/alert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297680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9808" y="4718304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749808" y="5038344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Pressure · Acoustic Emission</a:t>
            </a:r>
            <a:endParaRPr lang="en-US" sz="980" dirty="0"/>
          </a:p>
        </p:txBody>
      </p:sp>
      <p:sp>
        <p:nvSpPr>
          <p:cNvPr id="34" name="Text 27"/>
          <p:cNvSpPr/>
          <p:nvPr/>
        </p:nvSpPr>
        <p:spPr>
          <a:xfrm>
            <a:off x="749808" y="5623560"/>
            <a:ext cx="2203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STEEL4340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3319272" y="400507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BAAC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520440" y="420624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B0F17"/>
          </a:solidFill>
          <a:ln/>
        </p:spPr>
      </p:sp>
      <p:pic>
        <p:nvPicPr>
          <p:cNvPr id="37" name="Image 5" descr="icons/train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4297680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520440" y="4718304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Bogie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3520440" y="5038344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· Load Factor · Temperature</a:t>
            </a:r>
            <a:endParaRPr lang="en-US" sz="980" dirty="0"/>
          </a:p>
        </p:txBody>
      </p:sp>
      <p:sp>
        <p:nvSpPr>
          <p:cNvPr id="40" name="Text 32"/>
          <p:cNvSpPr/>
          <p:nvPr/>
        </p:nvSpPr>
        <p:spPr>
          <a:xfrm>
            <a:off x="3520440" y="5623560"/>
            <a:ext cx="2203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CASTIRON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6089904" y="400507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BAAC0">
                <a:alpha val="1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291072" y="420624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B0F17"/>
          </a:solidFill>
          <a:ln/>
        </p:spPr>
      </p:sp>
      <p:pic>
        <p:nvPicPr>
          <p:cNvPr id="43" name="Image 6" descr="icons/activity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297680"/>
            <a:ext cx="228600" cy="2286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291072" y="4718304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</a:t>
            </a:r>
            <a:endParaRPr lang="en-US" sz="1450" dirty="0"/>
          </a:p>
        </p:txBody>
      </p:sp>
      <p:sp>
        <p:nvSpPr>
          <p:cNvPr id="45" name="Text 36"/>
          <p:cNvSpPr/>
          <p:nvPr/>
        </p:nvSpPr>
        <p:spPr>
          <a:xfrm>
            <a:off x="6291072" y="5038344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· Temperature · Pressure</a:t>
            </a:r>
            <a:endParaRPr lang="en-US" sz="980" dirty="0"/>
          </a:p>
        </p:txBody>
      </p:sp>
      <p:sp>
        <p:nvSpPr>
          <p:cNvPr id="46" name="Text 37"/>
          <p:cNvSpPr/>
          <p:nvPr/>
        </p:nvSpPr>
        <p:spPr>
          <a:xfrm>
            <a:off x="6291072" y="5623560"/>
            <a:ext cx="2203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STEEL4340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8860536" y="400507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B0F17"/>
          </a:solidFill>
          <a:ln/>
        </p:spPr>
      </p:sp>
      <p:sp>
        <p:nvSpPr>
          <p:cNvPr id="48" name="Text 39"/>
          <p:cNvSpPr/>
          <p:nvPr/>
        </p:nvSpPr>
        <p:spPr>
          <a:xfrm>
            <a:off x="9061704" y="4224528"/>
            <a:ext cx="22037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profiles auto-map to CSV columns by name pattern no manual schema wiring required.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9B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 ·  AI ANOMALY DETECTION SYSTEM</a:t>
            </a:r>
            <a:endParaRPr lang="en-US" sz="850" dirty="0"/>
          </a:p>
        </p:txBody>
      </p:sp>
      <p:sp>
        <p:nvSpPr>
          <p:cNvPr id="50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2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Two engines, one fleet-health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9363" y="1378087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CSV-threshold detector for rapid field triage, feeding into a deeper AI + physics engine for lifecycle-grade decisions.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130194"/>
            <a:ext cx="2450592" cy="1673352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2A36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rgbClr val="35D6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icons/databas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54203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14600" y="24048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3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98494" y="2360407"/>
            <a:ext cx="13675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Sensor CSV Ingestion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9244" y="2450592"/>
            <a:ext cx="215798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Auto-scans a directory, matches files to components by name pattern (engine, wing, brake)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3383280" y="2107692"/>
            <a:ext cx="2606040" cy="171450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2A36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584448" y="2423160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rgbClr val="35D6D6"/>
            </a:solidFill>
            <a:prstDash val="solid"/>
          </a:ln>
        </p:spPr>
      </p:sp>
      <p:pic>
        <p:nvPicPr>
          <p:cNvPr id="14" name="Image 1" descr="icons/activit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54203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24048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3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219418" y="2377440"/>
            <a:ext cx="13264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11880" y="2458122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Anomaly by taking the Sensors data</a:t>
            </a:r>
            <a:endParaRPr lang="en-US" sz="108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99A61BD-54E6-B960-ED19-9A8D024C4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r="30236" b="7241"/>
          <a:stretch>
            <a:fillRect/>
          </a:stretch>
        </p:blipFill>
        <p:spPr>
          <a:xfrm>
            <a:off x="8714243" y="157554"/>
            <a:ext cx="3485952" cy="670044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501996" y="4229279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 ·  AI ANOMALY DETECTION SYSTEM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9DF1CA35-58CD-CC7D-BE57-7FC445AE97D4}"/>
              </a:ext>
            </a:extLst>
          </p:cNvPr>
          <p:cNvSpPr/>
          <p:nvPr/>
        </p:nvSpPr>
        <p:spPr>
          <a:xfrm>
            <a:off x="6328138" y="2112264"/>
            <a:ext cx="2313838" cy="1709928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2A36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4E7D6E1A-0F79-E269-E3DE-69EC05409463}"/>
              </a:ext>
            </a:extLst>
          </p:cNvPr>
          <p:cNvSpPr/>
          <p:nvPr/>
        </p:nvSpPr>
        <p:spPr>
          <a:xfrm>
            <a:off x="6529306" y="2470718"/>
            <a:ext cx="446530" cy="502920"/>
          </a:xfrm>
          <a:prstGeom prst="ellipse">
            <a:avLst/>
          </a:prstGeom>
          <a:solidFill>
            <a:schemeClr val="bg1"/>
          </a:solidFill>
          <a:ln w="15875">
            <a:solidFill>
              <a:srgbClr val="35D6D6"/>
            </a:solidFill>
            <a:prstDash val="solid"/>
          </a:ln>
        </p:spPr>
      </p:sp>
      <p:pic>
        <p:nvPicPr>
          <p:cNvPr id="44" name="Image 1" descr="icons/activity_cyan.png">
            <a:extLst>
              <a:ext uri="{FF2B5EF4-FFF2-40B4-BE49-F238E27FC236}">
                <a16:creationId xmlns:a16="http://schemas.microsoft.com/office/drawing/2014/main" id="{326AB023-F204-08B3-11A9-6329F2CB6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178" y="2589590"/>
            <a:ext cx="235443" cy="265176"/>
          </a:xfrm>
          <a:prstGeom prst="rect">
            <a:avLst/>
          </a:prstGeom>
        </p:spPr>
      </p:pic>
      <p:sp>
        <p:nvSpPr>
          <p:cNvPr id="45" name="Text 11">
            <a:extLst>
              <a:ext uri="{FF2B5EF4-FFF2-40B4-BE49-F238E27FC236}">
                <a16:creationId xmlns:a16="http://schemas.microsoft.com/office/drawing/2014/main" id="{932F1DF0-3B3A-64B2-792A-13D388B55BFA}"/>
              </a:ext>
            </a:extLst>
          </p:cNvPr>
          <p:cNvSpPr/>
          <p:nvPr/>
        </p:nvSpPr>
        <p:spPr>
          <a:xfrm>
            <a:off x="8103137" y="2379694"/>
            <a:ext cx="4968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3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278CFF74-E279-F41B-4177-12CF9C7971D8}"/>
              </a:ext>
            </a:extLst>
          </p:cNvPr>
          <p:cNvSpPr/>
          <p:nvPr/>
        </p:nvSpPr>
        <p:spPr>
          <a:xfrm>
            <a:off x="7084400" y="2389094"/>
            <a:ext cx="117769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Stress Generation</a:t>
            </a:r>
            <a:endParaRPr lang="en-US" sz="14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7611C61D-BFFD-871C-F648-A422D31B6F70}"/>
              </a:ext>
            </a:extLst>
          </p:cNvPr>
          <p:cNvSpPr/>
          <p:nvPr/>
        </p:nvSpPr>
        <p:spPr>
          <a:xfrm>
            <a:off x="6556737" y="2505680"/>
            <a:ext cx="2043221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US" sz="108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flight loads and sensor data into stress and strain fields per component.</a:t>
            </a:r>
            <a:endParaRPr lang="en-US" sz="1080" dirty="0"/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F580095E-46EA-4AFD-4029-04B2A5F22500}"/>
              </a:ext>
            </a:extLst>
          </p:cNvPr>
          <p:cNvSpPr/>
          <p:nvPr/>
        </p:nvSpPr>
        <p:spPr>
          <a:xfrm>
            <a:off x="659330" y="4110970"/>
            <a:ext cx="3043991" cy="1673352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2A36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754A513F-20BF-D31A-65A8-A6016D943237}"/>
              </a:ext>
            </a:extLst>
          </p:cNvPr>
          <p:cNvSpPr/>
          <p:nvPr/>
        </p:nvSpPr>
        <p:spPr>
          <a:xfrm>
            <a:off x="778202" y="4421866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rgbClr val="35D6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2" name="Image 0" descr="icons/database_cyan.png">
            <a:extLst>
              <a:ext uri="{FF2B5EF4-FFF2-40B4-BE49-F238E27FC236}">
                <a16:creationId xmlns:a16="http://schemas.microsoft.com/office/drawing/2014/main" id="{B42D8CB9-7887-B531-5B87-EBCE82D0E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74" y="4540738"/>
            <a:ext cx="265176" cy="265176"/>
          </a:xfrm>
          <a:prstGeom prst="rect">
            <a:avLst/>
          </a:prstGeom>
        </p:spPr>
      </p:pic>
      <p:sp>
        <p:nvSpPr>
          <p:cNvPr id="63" name="Text 5">
            <a:extLst>
              <a:ext uri="{FF2B5EF4-FFF2-40B4-BE49-F238E27FC236}">
                <a16:creationId xmlns:a16="http://schemas.microsoft.com/office/drawing/2014/main" id="{2C453296-DF4C-C6F2-FE92-53B8776B8274}"/>
              </a:ext>
            </a:extLst>
          </p:cNvPr>
          <p:cNvSpPr/>
          <p:nvPr/>
        </p:nvSpPr>
        <p:spPr>
          <a:xfrm>
            <a:off x="2826080" y="438529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3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4BE2447B-17F4-203E-9CDB-C00456203510}"/>
              </a:ext>
            </a:extLst>
          </p:cNvPr>
          <p:cNvSpPr/>
          <p:nvPr/>
        </p:nvSpPr>
        <p:spPr>
          <a:xfrm>
            <a:off x="1370970" y="4343796"/>
            <a:ext cx="1567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00"/>
              </a:lnSpc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Fatigue</a:t>
            </a:r>
            <a:endParaRPr lang="en-US" sz="1400" dirty="0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A62E8A02-B217-B5A2-B87B-713BF2D148C7}"/>
              </a:ext>
            </a:extLst>
          </p:cNvPr>
          <p:cNvSpPr/>
          <p:nvPr/>
        </p:nvSpPr>
        <p:spPr>
          <a:xfrm>
            <a:off x="4011644" y="4085849"/>
            <a:ext cx="2606040" cy="1698473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2A36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Shape 10">
            <a:extLst>
              <a:ext uri="{FF2B5EF4-FFF2-40B4-BE49-F238E27FC236}">
                <a16:creationId xmlns:a16="http://schemas.microsoft.com/office/drawing/2014/main" id="{DCC78776-5E67-CBF6-53C8-318167BC44B4}"/>
              </a:ext>
            </a:extLst>
          </p:cNvPr>
          <p:cNvSpPr/>
          <p:nvPr/>
        </p:nvSpPr>
        <p:spPr>
          <a:xfrm>
            <a:off x="4212812" y="4401317"/>
            <a:ext cx="502920" cy="498219"/>
          </a:xfrm>
          <a:prstGeom prst="ellipse">
            <a:avLst/>
          </a:prstGeom>
          <a:solidFill>
            <a:schemeClr val="bg1"/>
          </a:solidFill>
          <a:ln w="15875">
            <a:solidFill>
              <a:srgbClr val="35D6D6"/>
            </a:solidFill>
            <a:prstDash val="solid"/>
          </a:ln>
        </p:spPr>
      </p:sp>
      <p:pic>
        <p:nvPicPr>
          <p:cNvPr id="68" name="Image 1" descr="icons/activity_cyan.png">
            <a:extLst>
              <a:ext uri="{FF2B5EF4-FFF2-40B4-BE49-F238E27FC236}">
                <a16:creationId xmlns:a16="http://schemas.microsoft.com/office/drawing/2014/main" id="{AD6A352C-13A2-BF28-EC52-4B609D59E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684" y="4520189"/>
            <a:ext cx="265176" cy="262697"/>
          </a:xfrm>
          <a:prstGeom prst="rect">
            <a:avLst/>
          </a:prstGeom>
        </p:spPr>
      </p:pic>
      <p:sp>
        <p:nvSpPr>
          <p:cNvPr id="69" name="Text 11">
            <a:extLst>
              <a:ext uri="{FF2B5EF4-FFF2-40B4-BE49-F238E27FC236}">
                <a16:creationId xmlns:a16="http://schemas.microsoft.com/office/drawing/2014/main" id="{9645FB2A-222A-C15A-038C-9C07B3FD589E}"/>
              </a:ext>
            </a:extLst>
          </p:cNvPr>
          <p:cNvSpPr/>
          <p:nvPr/>
        </p:nvSpPr>
        <p:spPr>
          <a:xfrm>
            <a:off x="5940306" y="4249420"/>
            <a:ext cx="502920" cy="362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3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8B2E3C19-70EB-4844-FE05-2F79B13BCC26}"/>
              </a:ext>
            </a:extLst>
          </p:cNvPr>
          <p:cNvSpPr/>
          <p:nvPr/>
        </p:nvSpPr>
        <p:spPr>
          <a:xfrm>
            <a:off x="4796583" y="4355597"/>
            <a:ext cx="1667097" cy="634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00"/>
              </a:lnSpc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RUL &amp; Recommendations</a:t>
            </a:r>
            <a:endParaRPr lang="en-US" sz="14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489644FA-7C5D-DCD4-C01D-4297404CED8E}"/>
              </a:ext>
            </a:extLst>
          </p:cNvPr>
          <p:cNvSpPr/>
          <p:nvPr/>
        </p:nvSpPr>
        <p:spPr>
          <a:xfrm>
            <a:off x="784635" y="4457431"/>
            <a:ext cx="291868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US" sz="108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Basquin, Paris Law &amp; NASGRO models translate stress into remaining-life estimates + Gaussian models score each reading</a:t>
            </a:r>
            <a:endParaRPr lang="en-US" sz="1080" dirty="0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87EC24CB-7282-1B4A-37EF-B392C9EBBC5D}"/>
              </a:ext>
            </a:extLst>
          </p:cNvPr>
          <p:cNvSpPr/>
          <p:nvPr/>
        </p:nvSpPr>
        <p:spPr>
          <a:xfrm>
            <a:off x="4239282" y="4471665"/>
            <a:ext cx="2148840" cy="1630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US" sz="108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 estimation plus material/supplier upgrade guidance.</a:t>
            </a:r>
            <a:endParaRPr lang="en-US" sz="1080" dirty="0"/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6D856C1D-F97D-986F-1C81-CF5BD6C9687C}"/>
              </a:ext>
            </a:extLst>
          </p:cNvPr>
          <p:cNvCxnSpPr>
            <a:stCxn id="42" idx="3"/>
            <a:endCxn id="60" idx="1"/>
          </p:cNvCxnSpPr>
          <p:nvPr/>
        </p:nvCxnSpPr>
        <p:spPr>
          <a:xfrm flipH="1">
            <a:off x="659330" y="2967228"/>
            <a:ext cx="7982646" cy="1980418"/>
          </a:xfrm>
          <a:prstGeom prst="bentConnector5">
            <a:avLst>
              <a:gd name="adj1" fmla="val -2864"/>
              <a:gd name="adj2" fmla="val 50462"/>
              <a:gd name="adj3" fmla="val 10286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12E63A3-6971-CC2D-DEEC-F1F062F7536F}"/>
              </a:ext>
            </a:extLst>
          </p:cNvPr>
          <p:cNvCxnSpPr>
            <a:stCxn id="5" idx="3"/>
            <a:endCxn id="12" idx="1"/>
          </p:cNvCxnSpPr>
          <p:nvPr/>
        </p:nvCxnSpPr>
        <p:spPr>
          <a:xfrm flipV="1">
            <a:off x="3108960" y="2964942"/>
            <a:ext cx="274320" cy="1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7DF80B7-B311-99E3-510D-1C72734305A5}"/>
              </a:ext>
            </a:extLst>
          </p:cNvPr>
          <p:cNvCxnSpPr>
            <a:stCxn id="12" idx="3"/>
            <a:endCxn id="42" idx="1"/>
          </p:cNvCxnSpPr>
          <p:nvPr/>
        </p:nvCxnSpPr>
        <p:spPr>
          <a:xfrm>
            <a:off x="5989320" y="2964942"/>
            <a:ext cx="338818" cy="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1704E8B-B783-4A44-4654-312FD091F8A5}"/>
              </a:ext>
            </a:extLst>
          </p:cNvPr>
          <p:cNvCxnSpPr>
            <a:cxnSpLocks/>
            <a:stCxn id="60" idx="3"/>
            <a:endCxn id="66" idx="1"/>
          </p:cNvCxnSpPr>
          <p:nvPr/>
        </p:nvCxnSpPr>
        <p:spPr>
          <a:xfrm flipV="1">
            <a:off x="3703321" y="4935086"/>
            <a:ext cx="308323" cy="12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3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pipeline to fleet-wide rollout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integration path connects the model directly into existing MRO and asset-management workflows.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87168" cy="3291840"/>
          </a:xfrm>
          <a:prstGeom prst="roundRect">
            <a:avLst>
              <a:gd name="adj" fmla="val 3676"/>
            </a:avLst>
          </a:prstGeom>
          <a:solidFill>
            <a:srgbClr val="141B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50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3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3566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9525">
            <a:solidFill>
              <a:srgbClr val="35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5661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4023360"/>
            <a:ext cx="20848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pipelines, ingestion, quality checks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54096" y="3703320"/>
            <a:ext cx="91440" cy="9144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2" name="Shape 10"/>
          <p:cNvSpPr/>
          <p:nvPr/>
        </p:nvSpPr>
        <p:spPr>
          <a:xfrm>
            <a:off x="3163824" y="2148840"/>
            <a:ext cx="2487168" cy="3291840"/>
          </a:xfrm>
          <a:prstGeom prst="roundRect">
            <a:avLst>
              <a:gd name="adj" fmla="val 3676"/>
            </a:avLst>
          </a:prstGeom>
          <a:solidFill>
            <a:srgbClr val="141B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2350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3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64992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64992" y="3566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9525">
            <a:solidFill>
              <a:srgbClr val="35D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35661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mo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64992" y="4023360"/>
            <a:ext cx="20848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+ RUL estimation live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0" y="3703320"/>
            <a:ext cx="91440" cy="9144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779008" y="2148840"/>
            <a:ext cx="2487168" cy="3291840"/>
          </a:xfrm>
          <a:prstGeom prst="roundRect">
            <a:avLst>
              <a:gd name="adj" fmla="val 3676"/>
            </a:avLst>
          </a:prstGeom>
          <a:solidFill>
            <a:srgbClr val="141B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0176" y="2350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3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980176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80176" y="3566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9525">
            <a:solidFill>
              <a:srgbClr val="35D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0176" y="35661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80176" y="4023360"/>
            <a:ext cx="20848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MRO connection, work orders, alerts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84464" y="3703320"/>
            <a:ext cx="91440" cy="9144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26" name="Shape 24"/>
          <p:cNvSpPr/>
          <p:nvPr/>
        </p:nvSpPr>
        <p:spPr>
          <a:xfrm>
            <a:off x="8394192" y="2148840"/>
            <a:ext cx="2487168" cy="3291840"/>
          </a:xfrm>
          <a:prstGeom prst="roundRect">
            <a:avLst>
              <a:gd name="adj" fmla="val 3676"/>
            </a:avLst>
          </a:prstGeom>
          <a:solidFill>
            <a:srgbClr val="141B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2350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3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595360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Scaling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95360" y="3566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9525">
            <a:solidFill>
              <a:srgbClr val="35D6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35661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95360" y="4023360"/>
            <a:ext cx="20848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refinement, fleet expansion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715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943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6–9 months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4114800" y="5715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0" y="5943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$250K–$500K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7680960" y="5715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ROI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680960" y="5943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3–5x, Year 1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 ·  AI ANOMALY DETECTION SYSTEM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B8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anomaly ends in a decision, not just a flag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database cross-references current alloys against a curated upgrade map — surfacing supplier, cost, and confidence in one pass.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0177272" cy="2514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Inconel718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5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Inconel718Plus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 fatigue 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Steel4340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5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Steel300M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+20% fatigue 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Al7075-T6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5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Al7050-T7451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 toughness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CastIron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5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DuctileCastIron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 fatigue 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1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00600"/>
            <a:ext cx="10177272" cy="1280160"/>
          </a:xfrm>
          <a:prstGeom prst="roundRect">
            <a:avLst>
              <a:gd name="adj" fmla="val 8571"/>
            </a:avLst>
          </a:prstGeom>
          <a:solidFill>
            <a:srgbClr val="0B0F17"/>
          </a:solidFill>
          <a:ln/>
        </p:spPr>
      </p:sp>
      <p:pic>
        <p:nvPicPr>
          <p:cNvPr id="7" name="Image 0" descr="icons/dollar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38928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493776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bundle estimated cost, supplier lead time, and projected savings — so engineering and procurement work from the same number.</a:t>
            </a:r>
            <a:endParaRPr lang="en-US" sz="1300" dirty="0"/>
          </a:p>
        </p:txBody>
      </p:sp>
      <p:sp>
        <p:nvSpPr>
          <p:cNvPr id="5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9B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 ·  AI ANOMALY DETECTION SYSTEM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every sensor reading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a maintenance decision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3977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kern="0" spc="120" dirty="0">
                <a:solidFill>
                  <a:srgbClr val="3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System  ·  Anomaly Detection &amp; Fatigue Intelligence Engine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4572000"/>
            <a:ext cx="2926080" cy="0"/>
          </a:xfrm>
          <a:prstGeom prst="line">
            <a:avLst/>
          </a:prstGeom>
          <a:noFill/>
          <a:ln w="12700">
            <a:solidFill>
              <a:srgbClr val="2A36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next steps welcome.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 ·  AI ANOMALY DETECTION SYSTEM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657</Words>
  <Application>Microsoft Office PowerPoint</Application>
  <PresentationFormat>Widescreen</PresentationFormat>
  <Paragraphs>145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praneet aj</cp:lastModifiedBy>
  <cp:revision>4</cp:revision>
  <dcterms:created xsi:type="dcterms:W3CDTF">2026-07-09T19:21:19Z</dcterms:created>
  <dcterms:modified xsi:type="dcterms:W3CDTF">2026-07-10T02:01:31Z</dcterms:modified>
</cp:coreProperties>
</file>